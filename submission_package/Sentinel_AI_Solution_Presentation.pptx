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82880" cy="3931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80160" y="1371600"/>
            <a:ext cx="3474720" cy="347472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🛡️ GUJARAT POLICE SMART SURVEILLANCE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SENTINEL AI SURVEILLANCE PLATFORM</a:t>
            </a:r>
          </a:p>
          <a:p>
            <a:pPr>
              <a:spcBef>
                <a:spcPts val="800"/>
              </a:spcBef>
              <a:defRPr sz="1900" b="1">
                <a:solidFill>
                  <a:srgbClr val="06B6D4"/>
                </a:solidFill>
              </a:defRPr>
            </a:pPr>
            <a:r>
              <a:t>Unified CCTV Ingestion, AI ANPR &amp; GIS Vehicle Tracking System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An enterprise-grade, 100% self-hosted computer vision intelligence system. Integrates multi-vendor cameras, executes sub-second hotlist alerts, and reconstructs vehicle journeys on interactive GIS maps with zero cloud API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5120640"/>
            <a:ext cx="2331720" cy="502920"/>
          </a:xfrm>
          <a:prstGeom prst="roundRect">
            <a:avLst/>
          </a:prstGeom>
          <a:solidFill>
            <a:srgbClr val="131D3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📹 Multi-Vendor RTSP/ONVIF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5120640"/>
            <a:ext cx="2331720" cy="502920"/>
          </a:xfrm>
          <a:prstGeom prst="roundRect">
            <a:avLst/>
          </a:prstGeom>
          <a:solidFill>
            <a:srgbClr val="131D3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⚡ YOLOv8 + PP-OCRv4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20640"/>
            <a:ext cx="2331720" cy="502920"/>
          </a:xfrm>
          <a:prstGeom prst="roundRect">
            <a:avLst/>
          </a:prstGeom>
          <a:solidFill>
            <a:srgbClr val="131D3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🚨 &lt;400ms Hotlist Siren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5120640"/>
            <a:ext cx="2331720" cy="502920"/>
          </a:xfrm>
          <a:prstGeom prst="roundRect">
            <a:avLst/>
          </a:prstGeom>
          <a:solidFill>
            <a:srgbClr val="131D3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🗺️ PostGIS Breadcrumbs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State Data Centre (SDC) &amp; Air-Gapped Network Compliant • Official Gujarat Police Solution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🛡️ PROBLEM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Surveillance Challenge Faced by Police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Current city surveillance systems suffer from fragmented hardware, slow alerting, and high cloud costs.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093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Sentinel AI Surveillance Platform • 100% Self-Hosted • SDC 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54480"/>
            <a:ext cx="33832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83280" cy="10972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19072"/>
            <a:ext cx="2926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📹 Multi-Vendor Silos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Incompatible Brands &amp; Proprietary VMS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Cities have thousands of cameras from different brands (Hikvision, Dahua, CP Plus, Axis) running incompatible proprietary software.</a:t>
            </a:r>
          </a:p>
          <a:p>
            <a:pPr>
              <a:spcBef>
                <a:spcPts val="800"/>
              </a:spcBef>
              <a:defRPr sz="1050">
                <a:solidFill>
                  <a:srgbClr val="F87171"/>
                </a:solidFill>
              </a:defRPr>
            </a:pPr>
            <a:r>
              <a:t>✖ No unified live video matrix across city zones</a:t>
            </a:r>
          </a:p>
          <a:p>
            <a:pPr>
              <a:spcBef>
                <a:spcPts val="800"/>
              </a:spcBef>
              <a:defRPr sz="1050">
                <a:solidFill>
                  <a:srgbClr val="F87171"/>
                </a:solidFill>
              </a:defRPr>
            </a:pPr>
            <a:r>
              <a:t>✖ Difficult and expensive to add or swap camera brands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3832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1554480"/>
            <a:ext cx="3383280" cy="10972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19072"/>
            <a:ext cx="2926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🔍 Complex Indian Plates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Foreign OCRs Fail on Indian Roads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Standard foreign OCR systems fail miserably on Indian roads due to high font variations, 2-line plates, commercial yellow plates, and dust/glare.</a:t>
            </a:r>
          </a:p>
          <a:p>
            <a:pPr>
              <a:spcBef>
                <a:spcPts val="800"/>
              </a:spcBef>
              <a:defRPr sz="1050">
                <a:solidFill>
                  <a:srgbClr val="F87171"/>
                </a:solidFill>
              </a:defRPr>
            </a:pPr>
            <a:r>
              <a:t>✖ 40%+ OCR errors on Indian standard fonts</a:t>
            </a:r>
          </a:p>
          <a:p>
            <a:pPr>
              <a:spcBef>
                <a:spcPts val="800"/>
              </a:spcBef>
              <a:defRPr sz="1050">
                <a:solidFill>
                  <a:srgbClr val="F87171"/>
                </a:solidFill>
              </a:defRPr>
            </a:pPr>
            <a:r>
              <a:t>✖ Night-vision headlight glare and angle distortion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383280" cy="10972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719072"/>
            <a:ext cx="2926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⏱️ Delayed Suspect Intercept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Slow Manual Search &amp; Cloud Lock-in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Stolen vehicles and wanted criminals cross checkpoints unnoticed because manual monitoring cannot check hundreds of streams in real time.</a:t>
            </a:r>
          </a:p>
          <a:p>
            <a:pPr>
              <a:spcBef>
                <a:spcPts val="800"/>
              </a:spcBef>
              <a:defRPr sz="1050">
                <a:solidFill>
                  <a:srgbClr val="F87171"/>
                </a:solidFill>
              </a:defRPr>
            </a:pPr>
            <a:r>
              <a:t>✖ Hours lost in manual DVR video playback</a:t>
            </a:r>
          </a:p>
          <a:p>
            <a:pPr>
              <a:spcBef>
                <a:spcPts val="800"/>
              </a:spcBef>
              <a:defRPr sz="1050">
                <a:solidFill>
                  <a:srgbClr val="F87171"/>
                </a:solidFill>
              </a:defRPr>
            </a:pPr>
            <a:r>
              <a:t>✖ Exorbitant per-camera cloud subscription license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🛡️ SYSTEM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High-Level Architecture &amp; Component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Modular 5-tier architecture built for non-blocking asynchronous processing and extreme scalability.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093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Sentinel AI Surveillance Platform • 100% Self-Hosted • SDC 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54480"/>
            <a:ext cx="24688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2468880" cy="10972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19072"/>
            <a:ext cx="20116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1️⃣ Ingestion Tier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MediaMTX Edge Gateway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Multi-Vendor RTSP/ONVIF Ingest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WebRTC / LL-HLS Video Proxy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Auto-Reconnect Watchdog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&lt; 150ms Stream Latency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554480"/>
            <a:ext cx="24688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554480"/>
            <a:ext cx="2468880" cy="10972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719072"/>
            <a:ext cx="20116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2️⃣ AI Vision Core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YOLOv8 + PP-OCRv4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Dual-Head Vehicle &amp; Plate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CLAHE Contrast Normalization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PP-OCRv4 Deep Text Engine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Indian LP Syntax Matcher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4688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468880" cy="10972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19072"/>
            <a:ext cx="20116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3️⃣ Core Backend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FastAPI &amp; Redis Cache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&lt; 1ms Redis Hotlist Index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Async WebSocket Broadcast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Trajectory Speed Engine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REST API &amp; JWT Security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4688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20" y="1554480"/>
            <a:ext cx="2468880" cy="10972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719072"/>
            <a:ext cx="20116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4️⃣ Command UI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React 18 &amp; Leaflet GIS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Interactive Leaflet GIS Map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Live 1/4/9 Camera Matrix Grid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Audio/Visual Siren Toaster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Forensic Breadcrumb Replay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🛡️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Specialized AI ANPR Pipeline for Indian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Multi-stage pipeline engineered specifically for high accuracy under difficult lighting, angles, and plate formats.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093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Sentinel AI Surveillance Platform • 100% Self-Hosted • SDC 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54480"/>
            <a:ext cx="56692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669280" cy="10972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19072"/>
            <a:ext cx="5212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⚡ 5-Step Deep Learning Inference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Sub-100ms Pure On-Premise Execution</a:t>
            </a:r>
          </a:p>
          <a:p>
            <a:pPr>
              <a:spcBef>
                <a:spcPts val="700"/>
              </a:spcBef>
              <a:defRPr sz="1050">
                <a:solidFill>
                  <a:srgbClr val="F8FAFC"/>
                </a:solidFill>
              </a:defRPr>
            </a:pPr>
            <a:r>
              <a:t>• 1. Adaptive Sampler: Motion-triggered frame grabbing throttles to 10 FPS to save 60% compute.</a:t>
            </a:r>
          </a:p>
          <a:p>
            <a:pPr>
              <a:spcBef>
                <a:spcPts val="700"/>
              </a:spcBef>
              <a:defRPr sz="1050">
                <a:solidFill>
                  <a:srgbClr val="F8FAFC"/>
                </a:solidFill>
              </a:defRPr>
            </a:pPr>
            <a:r>
              <a:t>• 2. Dual-Head YOLOv8: Isolates vehicle class (Car, Bike, Truck, Auto) and crops the license plate rectangle.</a:t>
            </a:r>
          </a:p>
          <a:p>
            <a:pPr>
              <a:spcBef>
                <a:spcPts val="700"/>
              </a:spcBef>
              <a:defRPr sz="1050">
                <a:solidFill>
                  <a:srgbClr val="F8FAFC"/>
                </a:solidFill>
              </a:defRPr>
            </a:pPr>
            <a:r>
              <a:t>• 3. CLAHE Image Enhancement: Normalizes night headlight glare, shadow contrast, and perspective deskew.</a:t>
            </a:r>
          </a:p>
          <a:p>
            <a:pPr>
              <a:spcBef>
                <a:spcPts val="700"/>
              </a:spcBef>
              <a:defRPr sz="1050">
                <a:solidFill>
                  <a:srgbClr val="F8FAFC"/>
                </a:solidFill>
              </a:defRPr>
            </a:pPr>
            <a:r>
              <a:t>• 4. PaddleOCR (PP-OCRv4): Deep character recognition trained on Indian standard, 2-line, yellow commercial &amp; EV plates.</a:t>
            </a:r>
          </a:p>
          <a:p>
            <a:pPr>
              <a:spcBef>
                <a:spcPts val="700"/>
              </a:spcBef>
              <a:defRPr sz="1050">
                <a:solidFill>
                  <a:srgbClr val="F8FAFC"/>
                </a:solidFill>
              </a:defRPr>
            </a:pPr>
            <a:r>
              <a:t>• 5. Indian LP Regex Validator: Enforces state/RTO syntax &amp; corrects optical ambiguities (O vs 0, B vs 8, I vs 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554480"/>
            <a:ext cx="47548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0" y="1554480"/>
            <a:ext cx="4754880" cy="10972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719072"/>
            <a:ext cx="42976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📊 Live Detection Simulation &amp; Benchmarks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Validated on real-world Indian highway feeds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377440"/>
            <a:ext cx="420624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242316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CAMERA: SG Highway (CAM-04)   •   GPU INFERENCE: 42ms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2743200"/>
            <a:ext cx="2926080" cy="594360"/>
          </a:xfrm>
          <a:prstGeom prst="roundRect">
            <a:avLst/>
          </a:prstGeom>
          <a:solidFill>
            <a:srgbClr val="FACC1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GJ 01 AB 1234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42900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</a:defRPr>
            </a:pPr>
            <a:r>
              <a:t>VEHICLE: WHITE FORTUNER (SUV)  |  CONFIDENCE: 96.4%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206240"/>
            <a:ext cx="2011680" cy="14630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br/>
            <a:r>
              <a:t>97.4%</a:t>
            </a:r>
            <a:br/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Detection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206240"/>
            <a:ext cx="2011680" cy="14630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34D399"/>
                </a:solidFill>
              </a:defRPr>
            </a:pPr>
            <a:br/>
            <a:r>
              <a:t>&lt; 45ms</a:t>
            </a:r>
            <a:br/>
          </a:p>
          <a:p>
            <a:pPr algn="ctr">
              <a:defRPr sz="1000">
                <a:solidFill>
                  <a:srgbClr val="94A3B8"/>
                </a:solidFill>
              </a:defRPr>
            </a:pPr>
            <a:r>
              <a:t>GPU Frame Latency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🛡️ REAL-TIME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Sub-Second Watchlist Matching &amp; Operator Siren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Instant broadcast from camera sensor to operator workstation in under 400 milliseconds.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093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Sentinel AI Surveillance Platform • 100% Self-Hosted • SDC 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120640" cy="10972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19072"/>
            <a:ext cx="46634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🚨 Real-Time Hotlist Match Engine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Integrates with CCTNS &amp; police stolen vehicle databases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Redis In-Memory Key-Value: Performs hash lookups in &lt; 1ms per recognized license plate.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Fuzzy Levenshtein Matcher: Tolerates single-character OCR scratches to catch disguised plates.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Severity Categorization: Distinguishes CRITICAL (Stolen/Armed), HIGH (Wanted), and MEDIUM alerts.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Instant Audio Siren: Loud audio chime and red flashing toaster alerts the operator immediately.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212080" cy="10972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47548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⚡ Command Center Alert Card Example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What the police operator sees in real time: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377440"/>
            <a:ext cx="4663440" cy="731520"/>
          </a:xfrm>
          <a:prstGeom prst="roundRect">
            <a:avLst/>
          </a:prstGeom>
          <a:solidFill>
            <a:srgbClr val="3C0F14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7171"/>
                </a:solidFill>
              </a:defRPr>
            </a:pPr>
            <a:r>
              <a:t>🚨 CRITICAL HOTLIST MATCH  [ &lt; 380ms ]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FIR-2026-9081 • STOLEN SUV REPORTED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200400"/>
            <a:ext cx="466344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>
                <a:solidFill>
                  <a:srgbClr val="F8FAFC"/>
                </a:solidFill>
              </a:defRPr>
            </a:pPr>
            <a:r>
              <a:t>📍 Location: SG Highway - Pakwan Junction (CAM-04)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⏱️ Timestamp: Today at 10:45:22 AM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🚘 Vehicle: GJ01AB1234 (White Toyota Fortuner)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</a:defRPr>
            </a:pPr>
            <a:r>
              <a:t>👮 Police Station: Vastrapur PS, Ahmedabad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5029200"/>
            <a:ext cx="2240280" cy="5486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📺 1-Click Live Feed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5029200"/>
            <a:ext cx="2240280" cy="5486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🚔 Dispatch PCR Van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🛡️ GIS &amp;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GIS Map &amp; Vehicle Breadcrumb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Reconstruct suspect escape routes with spatial speed estimation and directional polylines.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093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Sentinel AI Surveillance Platform • 100% Self-Hosted • SDC 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6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54480"/>
            <a:ext cx="33832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3383280" cy="10972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19072"/>
            <a:ext cx="2926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🗺️ Live GIS Overview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Leaflet + OpenStreetMap + PostGIS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Green/Red camera health pins across city junctions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Flashing radar alert marker on incident camera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Spatial camera clustering for high-density areas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Zero Google Maps licensing fees (100% self-hosted)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3832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1554480"/>
            <a:ext cx="3383280" cy="10972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19072"/>
            <a:ext cx="2926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📍 Numbered Breadcrumbs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Chronological Journey Synthesis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Trajectory reconstruction (1 → 2 → 3 → 4)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Average speed calculation (km/h) between junctions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Delta-T transit time between consecutive cameras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Directional arrows highlight fleeing suspect heading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383280" cy="10972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719072"/>
            <a:ext cx="29260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📋 Forensic Dossier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Court-Admissible Evidence Export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1-Click printable PDF investigation dossiers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Full-frame snapshots + localized plate crops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Wildcard search for partial plates (GJ01??1234)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Tamper-evident cryptographic audit hashes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🛡️ COMMAND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Unified Web Command Center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Modern React 18 interface designed specifically for fast-paced police control room operations.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093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Sentinel AI Surveillance Platform • 100% Self-Hosted • SDC 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54480"/>
            <a:ext cx="2468880" cy="25603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2468880" cy="10972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19072"/>
            <a:ext cx="20116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📺 30 Live CCTV Grid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30 official Gujarat Police cameras with 60 FPS hardware HLS streams.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554480"/>
            <a:ext cx="2468880" cy="25603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554480"/>
            <a:ext cx="2468880" cy="10972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719072"/>
            <a:ext cx="20116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🔒 Officer Security &amp; RBAC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Salted SHA-256 gated login: SP IT &amp; Cyber (Badge: GP-7829).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468880" cy="25603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468880" cy="10972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19072"/>
            <a:ext cx="20116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🚨 Instant Hotlist Alerts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Sub-second cross-reference against CCTNS stolen FIR watchlists.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468880" cy="25603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20" y="1554480"/>
            <a:ext cx="2468880" cy="109728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719072"/>
            <a:ext cx="2011680" cy="2240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🌐 Live Cloud Platform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sentinel.deventtechnology.com with 24/7 keep-alive monitoring.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389120"/>
            <a:ext cx="1069848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26517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30 Feeds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Live Gujarat Police Cameras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572000"/>
            <a:ext cx="26517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34D399"/>
                </a:solidFill>
              </a:defRPr>
            </a:pPr>
            <a:r>
              <a:t>SHA-256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Officer Security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4572000"/>
            <a:ext cx="26517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87171"/>
                </a:solidFill>
              </a:defRPr>
            </a:pPr>
            <a:r>
              <a:t>&lt; 1s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Hotlist Alert Latency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572000"/>
            <a:ext cx="26517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BBF24"/>
                </a:solidFill>
              </a:defRPr>
            </a:pPr>
            <a:r>
              <a:t>24/7 Live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Continuous Cloud Uptime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926080" cy="292608"/>
          </a:xfrm>
          <a:prstGeom prst="roundRect">
            <a:avLst/>
          </a:prstGeom>
          <a:solidFill>
            <a:srgbClr val="0F1E30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🛡️ VALUE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Summary, Live Production Demo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High operational impact with verified production cloud availability.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09360"/>
            <a:ext cx="10698480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Sentinel AI Surveillance Platform • 100% Self-Hosted • SDC 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355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4748B"/>
                </a:solidFill>
              </a:defRPr>
            </a:pPr>
            <a:r>
              <a:t>Slide 8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5120640" cy="10972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19072"/>
            <a:ext cx="46634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💰 Massive Cost &amp; Infrastructure ROI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Zero Recurring SaaS Fees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Zero Recurring SaaS Costs: No per-camera licensing fees; saves crores annually compared to proprietary suites.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Multi-Vendor Reusability: Works with existing legacy CCTV hardware across Gujarat without costly replacements.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100% Data Sovereignty: Video footage and criminal records remain strictly inside the State Data Centre.</a:t>
            </a:r>
          </a:p>
          <a:p>
            <a:pPr>
              <a:spcBef>
                <a:spcPts val="1000"/>
              </a:spcBef>
              <a:defRPr sz="1100">
                <a:solidFill>
                  <a:srgbClr val="F8FAFC"/>
                </a:solidFill>
              </a:defRPr>
            </a:pPr>
            <a:r>
              <a:t>• Rapid Resolution: Cuts forensic tracking time from several hours down to a few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212080" cy="109728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19072"/>
            <a:ext cx="47548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🌐 Live Production Demo Access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</a:defRPr>
            </a:pPr>
            <a:r>
              <a:t>Direct Evaluation Access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Live Web Dashboard: https://sentinel.deventtechnology.com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Live API Backend: https://sentinel-api-bqfm.onrender.com/docs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Officer Login Email: jyoti@deventtechnology.com (Superintendent of Police)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Officer Password: 123456 (Badge Number: GP-7829)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Active Feeds: 30 Official Gujarat Police Cameras (cam01 - cam30)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Uptime Monitoring: Automated 24/7 keep-alive monitor enabled.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